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23960" y="1005840"/>
            <a:ext cx="2286000" cy="2286000"/>
          </a:xfrm>
          <a:prstGeom prst="ellipse">
            <a:avLst/>
          </a:prstGeom>
          <a:solidFill>
            <a:srgbClr val="F5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1645920"/>
            <a:ext cx="1051560" cy="1051560"/>
          </a:xfrm>
          <a:prstGeom prst="ellipse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E5B34"/>
                </a:solidFill>
                <a:latin typeface="Aptos"/>
              </a:rPr>
              <a:t>DIGITAL ELECTRONICS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63040"/>
            <a:ext cx="777240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A2B26"/>
                </a:solidFill>
                <a:latin typeface="Aptos"/>
              </a:rPr>
              <a:t>Design of a 4-Bit
Up/Down Counter with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246120"/>
            <a:ext cx="6675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706E64"/>
                </a:solidFill>
                <a:latin typeface="Aptos"/>
              </a:rPr>
              <a:t>A synchronous sequential circuit that counts forward or backward and can be initialized to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4114800"/>
            <a:ext cx="84124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4315968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Q3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4114800"/>
            <a:ext cx="84124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4315968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Q2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98864" y="4114800"/>
            <a:ext cx="84124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98864" y="4315968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Q1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77856" y="4114800"/>
            <a:ext cx="84124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77856" y="4315968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AE5B34"/>
                </a:solidFill>
                <a:latin typeface="Aptos"/>
              </a:rPr>
              <a:t>Q0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5074920"/>
            <a:ext cx="6217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5193792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E5B34"/>
                </a:solidFill>
                <a:latin typeface="Aptos"/>
              </a:rPr>
              <a:t>PRESENTED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04688"/>
            <a:ext cx="2880360" cy="53035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A2B26"/>
                </a:solidFill>
                <a:latin typeface="Aptos"/>
              </a:rPr>
              <a:t>Akshitha — 2620030219
Tanshika — 2620030223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504688"/>
            <a:ext cx="3017520" cy="53035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A2B26"/>
                </a:solidFill>
                <a:latin typeface="Aptos"/>
              </a:rPr>
              <a:t>Bhanuprakash Varma — 2620030226
Taraka Ram — 2620030236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1. Project Overview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AE5B34"/>
                </a:solidFill>
                <a:latin typeface="Aptos"/>
              </a:rPr>
              <a:t>What are we designing?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A2B26"/>
                </a:solidFill>
                <a:latin typeface="Aptos"/>
              </a:rPr>
              <a:t>A 4-bit counter stores a 4-bit binary value and changes it by one on each active clock edge. A direction input selects counting up or down, while reset initializes the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64008" cy="1709928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COUNT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31089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0 → 1 → 2 → … → 15 → 0
Moves to the next higher binary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34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962656"/>
            <a:ext cx="64008" cy="1709928"/>
          </a:xfrm>
          <a:prstGeom prst="rect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9900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COUNT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31089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15 → 14 → 13 → … → 0 → 15
Moves to the next lower binary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34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962656"/>
            <a:ext cx="64008" cy="1709928"/>
          </a:xfrm>
          <a:prstGeom prst="rect">
            <a:avLst/>
          </a:prstGeom>
          <a:solidFill>
            <a:srgbClr val="2A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9900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01568"/>
            <a:ext cx="31089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For an active-high reset, RESET = 1 forces the output to 0000.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Objectives: understand sequential logic • show direction control • explain reset behavior • identify practical 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2.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115568"/>
            <a:ext cx="1051560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706E64"/>
                </a:solidFill>
                <a:latin typeface="Aptos"/>
              </a:rPr>
              <a:t>The counter stores a binary number and updates it with each active clock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830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929384"/>
            <a:ext cx="64008" cy="15361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929384"/>
            <a:ext cx="438912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E5B3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67712"/>
            <a:ext cx="3044952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4-BIT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79191"/>
            <a:ext cx="3044952" cy="8503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06E64"/>
                </a:solidFill>
                <a:latin typeface="Aptos"/>
              </a:rPr>
              <a:t>Four flip-flops store the output bits Q3, Q2, Q1 and Q0.
Range: 0000 to 1111 (0 to 15).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830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29384"/>
            <a:ext cx="64008" cy="1536192"/>
          </a:xfrm>
          <a:prstGeom prst="rect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9384"/>
            <a:ext cx="438912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8745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67712"/>
            <a:ext cx="3044952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CLOCK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79191"/>
            <a:ext cx="3044952" cy="8503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06E64"/>
                </a:solidFill>
                <a:latin typeface="Aptos"/>
              </a:rPr>
              <a:t>The clock controls when the stored count changes. In this design, the count updates on a rising 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78308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929384"/>
            <a:ext cx="64008" cy="1536192"/>
          </a:xfrm>
          <a:prstGeom prst="rect">
            <a:avLst/>
          </a:prstGeom>
          <a:solidFill>
            <a:srgbClr val="2A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4" y="1929384"/>
            <a:ext cx="438912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A2B2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267712"/>
            <a:ext cx="3044952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DIRECTION +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679191"/>
            <a:ext cx="3044952" cy="8503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06E64"/>
                </a:solidFill>
                <a:latin typeface="Aptos"/>
              </a:rPr>
              <a:t>UP selects incrementing; DOWN selects decrementing. Reset clears the output to 0000.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05072"/>
            <a:ext cx="384048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E5B34"/>
                </a:solidFill>
                <a:latin typeface="Aptos"/>
              </a:rPr>
              <a:t>Example: one clock edge at a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53712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645152"/>
            <a:ext cx="172821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E5B34"/>
                </a:solidFill>
                <a:latin typeface="Aptos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901184"/>
            <a:ext cx="1728216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A2B26"/>
                </a:solidFill>
                <a:latin typeface="Consolas"/>
              </a:rPr>
              <a:t>0011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266944"/>
            <a:ext cx="1728216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06E64"/>
                </a:solidFill>
                <a:latin typeface="Aptos"/>
              </a:rPr>
              <a:t>Decimal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4864608"/>
            <a:ext cx="658368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AE5B3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553712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76472" y="4645152"/>
            <a:ext cx="172821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E5B34"/>
                </a:solidFill>
                <a:latin typeface="Aptos"/>
              </a:rPr>
              <a:t>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901184"/>
            <a:ext cx="1728216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A2B26"/>
                </a:solidFill>
                <a:latin typeface="Consolas"/>
              </a:rPr>
              <a:t>0100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5266944"/>
            <a:ext cx="1728216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06E64"/>
                </a:solidFill>
                <a:latin typeface="Aptos"/>
              </a:rPr>
              <a:t>Decimal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4864608"/>
            <a:ext cx="658368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AE5B34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553712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56832" y="4645152"/>
            <a:ext cx="172821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87452"/>
                </a:solidFill>
                <a:latin typeface="Aptos"/>
              </a:rPr>
              <a:t>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4901184"/>
            <a:ext cx="1728216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A2B26"/>
                </a:solidFill>
                <a:latin typeface="Consolas"/>
              </a:rPr>
              <a:t>0010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5266944"/>
            <a:ext cx="1728216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06E64"/>
                </a:solidFill>
                <a:latin typeface="Aptos"/>
              </a:rPr>
              <a:t>Decimal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4864608"/>
            <a:ext cx="658368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AE5B34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553712"/>
            <a:ext cx="1874519" cy="1024128"/>
          </a:xfrm>
          <a:prstGeom prst="roundRect">
            <a:avLst/>
          </a:prstGeom>
          <a:solidFill>
            <a:srgbClr val="F5E2D6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37192" y="4645152"/>
            <a:ext cx="172821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E5B34"/>
                </a:solidFill>
                <a:latin typeface="Aptos"/>
              </a:rPr>
              <a:t>RESET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192" y="4901184"/>
            <a:ext cx="1728216" cy="310896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A2B26"/>
                </a:solidFill>
                <a:latin typeface="Consolas"/>
              </a:rPr>
              <a:t>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7192" y="5266944"/>
            <a:ext cx="1728216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06E64"/>
                </a:solidFill>
                <a:latin typeface="Aptos"/>
              </a:rPr>
              <a:t>Decimal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925312"/>
            <a:ext cx="106984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06E64"/>
                </a:solidFill>
                <a:latin typeface="Aptos"/>
              </a:rPr>
              <a:t>Key idea: 4 bits provide 2⁴ = 16 states. At the limits, the sequence wraps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3.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060704"/>
            <a:ext cx="10698480" cy="329184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Inputs control the next state; four flip-flops store the current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83080"/>
            <a:ext cx="2057400" cy="914400"/>
          </a:xfrm>
          <a:prstGeom prst="roundRect">
            <a:avLst/>
          </a:prstGeom>
          <a:solidFill>
            <a:srgbClr val="EBE5D8"/>
          </a:solidFill>
          <a:ln w="15240"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1911095" cy="3108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2B26"/>
                </a:solidFill>
                <a:latin typeface="Aptos"/>
              </a:rPr>
              <a:t>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1837943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Updates state on the active 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971800"/>
            <a:ext cx="2057400" cy="914400"/>
          </a:xfrm>
          <a:prstGeom prst="roundRect">
            <a:avLst/>
          </a:prstGeom>
          <a:solidFill>
            <a:srgbClr val="F5E2D6"/>
          </a:solidFill>
          <a:ln w="15240">
            <a:solidFill>
              <a:srgbClr val="F5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118104"/>
            <a:ext cx="1911095" cy="3108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2B26"/>
                </a:solidFill>
                <a:latin typeface="Aptos"/>
              </a:rPr>
              <a:t>UP /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83864"/>
            <a:ext cx="1837943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Selects increment or decrement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60520"/>
            <a:ext cx="2057400" cy="914400"/>
          </a:xfrm>
          <a:prstGeom prst="roundRect">
            <a:avLst/>
          </a:prstGeom>
          <a:solidFill>
            <a:srgbClr val="EBE5D8"/>
          </a:solidFill>
          <a:ln w="15240"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306824"/>
            <a:ext cx="1911095" cy="3108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2B26"/>
                </a:solidFill>
                <a:latin typeface="Aptos"/>
              </a:rPr>
              <a:t>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72583"/>
            <a:ext cx="1837943" cy="34747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Forces output to 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468880"/>
            <a:ext cx="24231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67912" y="2615184"/>
            <a:ext cx="2276856" cy="3108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2B26"/>
                </a:solidFill>
                <a:latin typeface="Aptos"/>
              </a:rPr>
              <a:t>NEXT-STATE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2980944"/>
            <a:ext cx="2203704" cy="941831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Uses current count and direction
Calculates the next 4-bit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468880"/>
            <a:ext cx="25603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7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2615184"/>
            <a:ext cx="2414015" cy="310896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A2B26"/>
                </a:solidFill>
                <a:latin typeface="Aptos"/>
              </a:rPr>
              <a:t>4 FLIP-FLOPS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2980944"/>
            <a:ext cx="2340863" cy="941831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Store Q3, Q2, Q1 and Q0
Current 4-bit count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07208" y="2240280"/>
            <a:ext cx="987552" cy="502920"/>
          </a:xfrm>
          <a:prstGeom prst="line">
            <a:avLst/>
          </a:prstGeom>
          <a:ln w="25400">
            <a:solidFill>
              <a:srgbClr val="AE5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07208" y="3218688"/>
            <a:ext cx="987552" cy="210312"/>
          </a:xfrm>
          <a:prstGeom prst="line">
            <a:avLst/>
          </a:prstGeom>
          <a:ln w="25400">
            <a:solidFill>
              <a:srgbClr val="687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807208" y="3794760"/>
            <a:ext cx="4736592" cy="822960"/>
          </a:xfrm>
          <a:prstGeom prst="line">
            <a:avLst/>
          </a:prstGeom>
          <a:ln w="25400">
            <a:solidFill>
              <a:srgbClr val="2A2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17920" y="3218688"/>
            <a:ext cx="1325880" cy="0"/>
          </a:xfrm>
          <a:prstGeom prst="line">
            <a:avLst/>
          </a:prstGeom>
          <a:ln w="25400">
            <a:solidFill>
              <a:srgbClr val="AE5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0" y="4315968"/>
            <a:ext cx="3017520" cy="438912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E5B34"/>
                </a:solidFill>
                <a:latin typeface="Aptos"/>
              </a:rPr>
              <a:t>OUTPUT: Q3 Q2 Q1 Q0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73168"/>
            <a:ext cx="3017520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706E64"/>
                </a:solidFill>
                <a:latin typeface="Aptos"/>
              </a:rPr>
              <a:t>Binary count (0–15)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4069080"/>
            <a:ext cx="0" cy="210312"/>
          </a:xfrm>
          <a:prstGeom prst="line">
            <a:avLst/>
          </a:prstGeom>
          <a:ln w="19050">
            <a:solidFill>
              <a:srgbClr val="687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94760" y="4709160"/>
            <a:ext cx="29260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06E64"/>
                </a:solidFill>
                <a:latin typeface="Aptos"/>
              </a:rPr>
              <a:t>The next value is loaded into the flip-flops at the next active clock edge.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5715000"/>
            <a:ext cx="10469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815584"/>
            <a:ext cx="1014984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06E64"/>
                </a:solidFill>
                <a:latin typeface="Aptos"/>
              </a:rPr>
              <a:t>Conceptual diagram: exact circuit wiring depends on the chosen flip-flops and reset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4. Working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566928" cy="566928"/>
          </a:xfrm>
          <a:prstGeom prst="ellipse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62456"/>
            <a:ext cx="56692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527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252728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When reset is asserted, the output becomes 0000.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05456"/>
            <a:ext cx="56692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957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CLOCK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95728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At each active clock edge, the circuit updates its stored state.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48456"/>
            <a:ext cx="56692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387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538728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UP = 1 increments; UP = 0 decrements (chosen convention).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63440"/>
            <a:ext cx="566928" cy="566928"/>
          </a:xfrm>
          <a:prstGeom prst="ellipse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791455"/>
            <a:ext cx="56692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81727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B26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681727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The counter continues until reset is asserted again.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917544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E5B34"/>
                </a:solidFill>
                <a:latin typeface="Aptos"/>
              </a:rPr>
              <a:t>Important: this presentation assumes a synchronous clocked counter and an active-high reset.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5. Example: Counting Up and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029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AE5B34"/>
                </a:solidFill>
                <a:latin typeface="Aptos"/>
              </a:rPr>
              <a:t>COUNT UP  (UP =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4937760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dirty="0">
                <a:solidFill>
                  <a:srgbClr val="2A2B26"/>
                </a:solidFill>
                <a:latin typeface="Consolas"/>
              </a:rPr>
              <a:t>Clock edge     Decimal     Binary
    </a:t>
            </a:r>
            <a:r>
              <a:rPr lang="en-IN" sz="1700" dirty="0">
                <a:solidFill>
                  <a:srgbClr val="2A2B26"/>
                </a:solidFill>
                <a:latin typeface="Consolas"/>
              </a:rPr>
              <a:t> </a:t>
            </a:r>
            <a:r>
              <a:rPr sz="1700" b="0" dirty="0">
                <a:solidFill>
                  <a:srgbClr val="2A2B26"/>
                </a:solidFill>
                <a:latin typeface="Consolas"/>
              </a:rPr>
              <a:t>1           1          0001
     2           2          0010
     3           3          0011
     4           4          0100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43000"/>
            <a:ext cx="5029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87452"/>
                </a:solidFill>
                <a:latin typeface="Aptos"/>
              </a:rPr>
              <a:t>COUNT DOWN  (UP =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82495"/>
            <a:ext cx="4937760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dirty="0">
                <a:solidFill>
                  <a:srgbClr val="2A2B26"/>
                </a:solidFill>
                <a:latin typeface="Consolas"/>
              </a:rPr>
              <a:t>Clock edge     Decimal     Binary
    </a:t>
            </a:r>
            <a:r>
              <a:rPr lang="en-IN" sz="1700" dirty="0">
                <a:solidFill>
                  <a:srgbClr val="2A2B26"/>
                </a:solidFill>
                <a:latin typeface="Consolas"/>
              </a:rPr>
              <a:t>  </a:t>
            </a:r>
            <a:r>
              <a:rPr sz="1700" b="0" dirty="0">
                <a:solidFill>
                  <a:srgbClr val="2A2B26"/>
                </a:solidFill>
                <a:latin typeface="Consolas"/>
              </a:rPr>
              <a:t>1       </a:t>
            </a:r>
            <a:r>
              <a:rPr lang="en-IN" sz="1700" b="0" dirty="0">
                <a:solidFill>
                  <a:srgbClr val="2A2B26"/>
                </a:solidFill>
                <a:latin typeface="Consolas"/>
              </a:rPr>
              <a:t>   </a:t>
            </a:r>
            <a:r>
              <a:rPr sz="1700" b="0" dirty="0">
                <a:solidFill>
                  <a:srgbClr val="2A2B26"/>
                </a:solidFill>
                <a:latin typeface="Consolas"/>
              </a:rPr>
              <a:t>14       </a:t>
            </a:r>
            <a:r>
              <a:rPr lang="en-IN" sz="1700" b="0" dirty="0">
                <a:solidFill>
                  <a:srgbClr val="2A2B26"/>
                </a:solidFill>
                <a:latin typeface="Consolas"/>
              </a:rPr>
              <a:t> </a:t>
            </a:r>
            <a:r>
              <a:rPr sz="1700" b="0" dirty="0">
                <a:solidFill>
                  <a:srgbClr val="2A2B26"/>
                </a:solidFill>
                <a:latin typeface="Consolas"/>
              </a:rPr>
              <a:t> 1110
      2          13         1101
      3          12         1100
      4          11         1011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51960"/>
            <a:ext cx="10607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E5B34"/>
                </a:solidFill>
                <a:latin typeface="Aptos"/>
              </a:rPr>
              <a:t>RESET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407408"/>
            <a:ext cx="8138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B26"/>
                </a:solidFill>
                <a:latin typeface="Aptos"/>
              </a:rPr>
              <a:t>If the count is 0100 and reset is asserted, the output becomes 0000. Counting resumes from zero after reset is released.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06E64"/>
                </a:solidFill>
                <a:latin typeface="Aptos"/>
              </a:rPr>
              <a:t>A 4-bit counter has 16 states: after 1111, counting up wraps to 0000; after 0000, counting down wraps to 1111.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6. Design Logic &amp; Truth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E5B34"/>
                </a:solidFill>
                <a:latin typeface="Aptos"/>
              </a:rPr>
              <a:t>Next-state behavior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91640"/>
          <a:ext cx="65379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RESET</a:t>
                      </a:r>
                    </a:p>
                  </a:txBody>
                  <a:tcPr marL="73152" marR="45720" marT="54864" marB="36576">
                    <a:solidFill>
                      <a:srgbClr val="AE5B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UP</a:t>
                      </a:r>
                    </a:p>
                  </a:txBody>
                  <a:tcPr marL="73152" marR="45720" marT="54864" marB="36576">
                    <a:solidFill>
                      <a:srgbClr val="AE5B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count</a:t>
                      </a:r>
                    </a:p>
                  </a:txBody>
                  <a:tcPr marL="73152" marR="45720" marT="54864" marB="36576">
                    <a:solidFill>
                      <a:srgbClr val="AE5B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Next count</a:t>
                      </a:r>
                    </a:p>
                  </a:txBody>
                  <a:tcPr marL="73152" marR="45720" marT="54864" marB="36576">
                    <a:solidFill>
                      <a:srgbClr val="AE5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X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Any value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0001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1111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0000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1111</a:t>
                      </a:r>
                    </a:p>
                  </a:txBody>
                  <a:tcPr marL="73152" marR="45720" marT="54864" marB="36576">
                    <a:solidFill>
                      <a:srgbClr val="EBE5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0100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2B26"/>
                          </a:solidFill>
                          <a:latin typeface="Aptos"/>
                        </a:defRPr>
                      </a:pPr>
                      <a:r>
                        <a:t>0011</a:t>
                      </a:r>
                    </a:p>
                  </a:txBody>
                  <a:tcPr marL="73152" marR="45720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32588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87452"/>
                </a:solidFill>
                <a:latin typeface="Aptos"/>
              </a:rPr>
              <a:t>Implementation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874519"/>
            <a:ext cx="3566160" cy="30632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A2B26"/>
                </a:solidFill>
                <a:latin typeface="Aptos"/>
              </a:defRPr>
            </a:pPr>
            <a:r>
              <a:t>•  Use four flip-flops to hold the bits.</a:t>
            </a:r>
          </a:p>
          <a:p>
            <a:pPr>
              <a:spcAft>
                <a:spcPts val="1400"/>
              </a:spcAft>
              <a:defRPr sz="1500">
                <a:solidFill>
                  <a:srgbClr val="2A2B26"/>
                </a:solidFill>
                <a:latin typeface="Aptos"/>
              </a:defRPr>
            </a:pPr>
            <a:r>
              <a:t>•  Use combinational logic to calculate the next state.</a:t>
            </a:r>
          </a:p>
          <a:p>
            <a:pPr>
              <a:spcAft>
                <a:spcPts val="1400"/>
              </a:spcAft>
              <a:defRPr sz="1500">
                <a:solidFill>
                  <a:srgbClr val="2A2B26"/>
                </a:solidFill>
                <a:latin typeface="Aptos"/>
              </a:defRPr>
            </a:pPr>
            <a:r>
              <a:t>•  Use the UP/DOWN signal to select increment or decrement.</a:t>
            </a:r>
          </a:p>
          <a:p>
            <a:pPr>
              <a:spcAft>
                <a:spcPts val="1400"/>
              </a:spcAft>
              <a:defRPr sz="1500">
                <a:solidFill>
                  <a:srgbClr val="2A2B26"/>
                </a:solidFill>
                <a:latin typeface="Aptos"/>
              </a:defRPr>
            </a:pPr>
            <a:r>
              <a:t>•  Apply reset to clear all four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7. Applications &amp; Usefulness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62456"/>
            <a:ext cx="64008" cy="1344168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DIGITAL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Address sequencing, event counting and test circuits.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62456"/>
            <a:ext cx="64008" cy="1344168"/>
          </a:xfrm>
          <a:prstGeom prst="rect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8988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CONTROL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0136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Tracking steps, positions or operating states in simple controllers.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62456"/>
            <a:ext cx="64008" cy="1344168"/>
          </a:xfrm>
          <a:prstGeom prst="rect">
            <a:avLst/>
          </a:prstGeom>
          <a:solidFill>
            <a:srgbClr val="2A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38988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TIMING CIRCUITS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With extra logic, counters can help create clock division and timing intervals.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374136"/>
            <a:ext cx="64008" cy="1344168"/>
          </a:xfrm>
          <a:prstGeom prst="rect">
            <a:avLst/>
          </a:prstGeom>
          <a:solidFill>
            <a:srgbClr val="687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0156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UP/DOWN DISPLAYS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Useful as a building block for digital displays and adjustable count indicators.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461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374136"/>
            <a:ext cx="64008" cy="1344168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40156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EMBEDDED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1304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Can count pulses or track bounded quantities when designed for the task.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461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374136"/>
            <a:ext cx="64008" cy="1344168"/>
          </a:xfrm>
          <a:prstGeom prst="rect">
            <a:avLst/>
          </a:prstGeom>
          <a:solidFill>
            <a:srgbClr val="2A2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401568"/>
            <a:ext cx="3154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A2B26"/>
                </a:solidFill>
                <a:latin typeface="Aptos"/>
              </a:rPr>
              <a:t>LEARNING &amp;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1546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06E64"/>
                </a:solidFill>
                <a:latin typeface="Aptos"/>
              </a:rPr>
              <a:t>Demonstrates flip-flops, clocking, binary arithmetic and sequential logic.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706E64"/>
                </a:solidFill>
                <a:latin typeface="Aptos"/>
              </a:rPr>
              <a:t>Why it is useful: one small circuit supports two counting directions and a known reset state, making control and testing easier.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A2B26"/>
                </a:solidFill>
                <a:latin typeface="Aptos"/>
              </a:rPr>
              <a:t>8. Advantages &amp; Design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859536"/>
            <a:ext cx="987552" cy="50292"/>
          </a:xfrm>
          <a:prstGeom prst="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4937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687452"/>
                </a:solidFill>
                <a:latin typeface="Aptos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937760" cy="34747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rPr dirty="0"/>
              <a:t>•  Simple and compact 4-bit design.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rPr dirty="0"/>
              <a:t>•  Counts both upward and downward.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rPr dirty="0"/>
              <a:t>•  Reset gives a predictable starting state.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rPr dirty="0"/>
              <a:t>•  Easy to simulate and verify.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rPr dirty="0"/>
              <a:t>•  Useful foundation for larger digital 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49377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AE5B34"/>
                </a:solidFill>
                <a:latin typeface="Aptos"/>
              </a:rPr>
              <a:t>Design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4937760" cy="34747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t>•  Only 16 states are available (0–15).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t>•  Clock and direction signals must meet timing requirements.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t>•  A stable reset strategy is needed at startup.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t>•  Real hardware needs suitable flip-flops and logic.</a:t>
            </a:r>
          </a:p>
          <a:p>
            <a:pPr>
              <a:spcAft>
                <a:spcPts val="1400"/>
              </a:spcAft>
              <a:defRPr sz="1600">
                <a:solidFill>
                  <a:srgbClr val="2A2B26"/>
                </a:solidFill>
                <a:latin typeface="Aptos"/>
              </a:defRPr>
            </a:pPr>
            <a:r>
              <a:t>•  The design must define synchronous or asynchronous reset.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30352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E5B34"/>
                </a:solidFill>
                <a:latin typeface="Aptos"/>
              </a:rP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34440"/>
            <a:ext cx="8046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2A2B26"/>
                </a:solidFill>
                <a:latin typeface="Aptos"/>
              </a:rPr>
              <a:t>A small circuit with
useful digital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560320"/>
            <a:ext cx="75895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706E64"/>
                </a:solidFill>
                <a:latin typeface="Aptos"/>
              </a:rPr>
              <a:t>The 4-bit up/down counter combines binary counting, direction control and reset in one sequential circuit. It provides a clear example of how digital systems store state and update it in response to a clock.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5196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4425696"/>
            <a:ext cx="20939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AE5B34"/>
                </a:solidFill>
                <a:latin typeface="Aptos"/>
              </a:rPr>
              <a:t>16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82312"/>
            <a:ext cx="20939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06E64"/>
                </a:solidFill>
                <a:latin typeface="Aptos"/>
              </a:rPr>
              <a:t>0000 to 1111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25196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4425696"/>
            <a:ext cx="20939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87452"/>
                </a:solidFill>
                <a:latin typeface="Aptos"/>
              </a:rPr>
              <a:t>2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4782312"/>
            <a:ext cx="20939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06E64"/>
                </a:solidFill>
                <a:latin typeface="Aptos"/>
              </a:rPr>
              <a:t>Up or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25196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4425696"/>
            <a:ext cx="20939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AE5B34"/>
                </a:solidFill>
                <a:latin typeface="Aptos"/>
              </a:rPr>
              <a:t>1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4782312"/>
            <a:ext cx="20939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706E64"/>
                </a:solidFill>
                <a:latin typeface="Aptos"/>
              </a:rPr>
              <a:t>Known state: 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103120"/>
            <a:ext cx="502920" cy="594360"/>
          </a:xfrm>
          <a:prstGeom prst="round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227685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103120"/>
            <a:ext cx="502920" cy="594360"/>
          </a:xfrm>
          <a:prstGeom prst="roundRect">
            <a:avLst/>
          </a:prstGeom>
          <a:solidFill>
            <a:srgbClr val="EB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227685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A2B26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2103120"/>
            <a:ext cx="502920" cy="594360"/>
          </a:xfrm>
          <a:prstGeom prst="roundRect">
            <a:avLst/>
          </a:prstGeom>
          <a:solidFill>
            <a:srgbClr val="AE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12680" y="227685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2760" y="2103120"/>
            <a:ext cx="502920" cy="594360"/>
          </a:xfrm>
          <a:prstGeom prst="roundRect">
            <a:avLst/>
          </a:prstGeom>
          <a:solidFill>
            <a:srgbClr val="EB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52760" y="227685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A2B26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2A2B2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973</Words>
  <Application>Microsoft Office PowerPoint</Application>
  <PresentationFormat>Widescreen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tanshikakakarlapudi@outlook.com</cp:lastModifiedBy>
  <cp:revision>2</cp:revision>
  <dcterms:created xsi:type="dcterms:W3CDTF">2013-01-27T09:14:16Z</dcterms:created>
  <dcterms:modified xsi:type="dcterms:W3CDTF">2026-10-14T04:56:13Z</dcterms:modified>
  <cp:category/>
</cp:coreProperties>
</file>